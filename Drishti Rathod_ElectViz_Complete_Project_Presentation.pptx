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71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81" r:id="rId13"/>
    <p:sldId id="268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9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2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9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2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8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8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6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3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9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04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9618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60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72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61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2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9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168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EFAC9A-7AF2-2365-98A8-C9D282097B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70300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5159" y="1122363"/>
            <a:ext cx="6593681" cy="2387600"/>
          </a:xfrm>
        </p:spPr>
        <p:txBody>
          <a:bodyPr>
            <a:normAutofit fontScale="90000"/>
          </a:bodyPr>
          <a:lstStyle/>
          <a:p>
            <a:pPr algn="ctr"/>
            <a:r>
              <a:rPr b="1" dirty="0" err="1">
                <a:solidFill>
                  <a:schemeClr val="bg1"/>
                </a:solidFill>
              </a:rPr>
              <a:t>ElectViz</a:t>
            </a:r>
            <a:r>
              <a:rPr b="1" dirty="0">
                <a:solidFill>
                  <a:schemeClr val="bg1"/>
                </a:solidFill>
              </a:rPr>
              <a:t> – Election Data Visualization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for Media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</a:rPr>
              <a:t>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5158" y="4625926"/>
            <a:ext cx="6593681" cy="16557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By – Drishti Rathod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dirty="0" err="1"/>
              <a:t>ElectViz</a:t>
            </a:r>
            <a:r>
              <a:rPr sz="2800" dirty="0"/>
              <a:t> is an Election Data Visualization project developed for media and analytical purposes.</a:t>
            </a:r>
          </a:p>
          <a:p>
            <a:r>
              <a:rPr sz="2800" dirty="0"/>
              <a:t>The objective is to transform raw election datasets into meaningful insights using interactive dashboards.</a:t>
            </a:r>
          </a:p>
          <a:p>
            <a:r>
              <a:rPr sz="2800" dirty="0"/>
              <a:t>The project covers multi-year election data analysis with performance tracking.</a:t>
            </a:r>
          </a:p>
          <a:p>
            <a:r>
              <a:rPr sz="2800" dirty="0"/>
              <a:t>Tool Used: Power BI for dashboard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Election data is complex and large in volume.</a:t>
            </a:r>
          </a:p>
          <a:p>
            <a:r>
              <a:t>Raw datasets do not directly provide insights.</a:t>
            </a:r>
          </a:p>
          <a:p>
            <a:r>
              <a:t>Media and analysts require visual, quick, and comparative analysis.</a:t>
            </a:r>
          </a:p>
          <a:p>
            <a:r>
              <a:t>Need for dynamic dashboards with filters and drill-down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467A2-ED4A-9BD5-2F4A-49EA6D853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0"/>
            <a:ext cx="90653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7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 – Steps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Removed Duplicate Records</a:t>
            </a:r>
          </a:p>
          <a:p>
            <a:r>
              <a:rPr lang="en-US" sz="2000" dirty="0"/>
              <a:t>Checked duplicate rows based on:</a:t>
            </a:r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state</a:t>
            </a:r>
          </a:p>
          <a:p>
            <a:pPr lvl="1"/>
            <a:r>
              <a:rPr lang="en-US" dirty="0" err="1"/>
              <a:t>pc_no</a:t>
            </a:r>
            <a:endParaRPr lang="en-US" dirty="0"/>
          </a:p>
          <a:p>
            <a:pPr lvl="1"/>
            <a:r>
              <a:rPr lang="en-US" dirty="0"/>
              <a:t>candidate</a:t>
            </a:r>
          </a:p>
          <a:p>
            <a:r>
              <a:rPr lang="en-US" sz="2000" dirty="0"/>
              <a:t>Ensured one candidate appears only once per constituency per year.</a:t>
            </a:r>
          </a:p>
          <a:p>
            <a:r>
              <a:rPr lang="en-US" sz="2000" dirty="0"/>
              <a:t>Removed accidental repeated entries.</a:t>
            </a:r>
            <a:r>
              <a:rPr lang="en-US" sz="2000" b="1" dirty="0"/>
              <a:t> Handled Missing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258F-713F-54FB-1C80-50391A7F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478570"/>
          </a:xfrm>
        </p:spPr>
        <p:txBody>
          <a:bodyPr/>
          <a:lstStyle/>
          <a:p>
            <a:r>
              <a:rPr lang="en-IN" dirty="0"/>
              <a:t>Data Cleaning – Steps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A2D6C-94C1-5C14-BC70-AA76C1459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879" y="1317522"/>
            <a:ext cx="7429499" cy="4866968"/>
          </a:xfrm>
        </p:spPr>
        <p:txBody>
          <a:bodyPr>
            <a:noAutofit/>
          </a:bodyPr>
          <a:lstStyle/>
          <a:p>
            <a:r>
              <a:rPr lang="en-US" sz="2000" b="1" dirty="0"/>
              <a:t>➤ In Vote Columns (</a:t>
            </a:r>
            <a:r>
              <a:rPr lang="en-US" sz="2000" b="1" dirty="0" err="1"/>
              <a:t>totpoll</a:t>
            </a:r>
            <a:r>
              <a:rPr lang="en-US" sz="2000" b="1" dirty="0"/>
              <a:t>)</a:t>
            </a:r>
          </a:p>
          <a:p>
            <a:r>
              <a:rPr lang="en-US" sz="2000" dirty="0"/>
              <a:t>Checked for blank or null vote values.</a:t>
            </a:r>
          </a:p>
          <a:p>
            <a:r>
              <a:rPr lang="en-US" sz="2000" dirty="0"/>
              <a:t>Replaced null values with </a:t>
            </a:r>
            <a:r>
              <a:rPr lang="en-US" sz="2000" b="1" dirty="0"/>
              <a:t>0</a:t>
            </a:r>
            <a:r>
              <a:rPr lang="en-US" sz="2000" dirty="0"/>
              <a:t> (if candidate existed but votes missing).</a:t>
            </a:r>
          </a:p>
          <a:p>
            <a:r>
              <a:rPr lang="en-US" sz="2000" dirty="0"/>
              <a:t>Removed rows where both candidate name and votes were blank.</a:t>
            </a:r>
          </a:p>
          <a:p>
            <a:r>
              <a:rPr lang="en-US" sz="2000" b="1" dirty="0"/>
              <a:t>➤ In Elector / Turnout Columns</a:t>
            </a:r>
          </a:p>
          <a:p>
            <a:r>
              <a:rPr lang="en-US" sz="2000" dirty="0"/>
              <a:t>Removed rows where electors was null.</a:t>
            </a:r>
          </a:p>
          <a:p>
            <a:r>
              <a:rPr lang="en-US" sz="2000" dirty="0"/>
              <a:t>Ensured no division errors while calculating Turnout %.</a:t>
            </a:r>
          </a:p>
          <a:p>
            <a:r>
              <a:rPr lang="en-US" sz="2000" b="1" dirty="0"/>
              <a:t>➤ In Gender Column</a:t>
            </a:r>
          </a:p>
          <a:p>
            <a:r>
              <a:rPr lang="en-US" sz="2000" dirty="0"/>
              <a:t>Replaced null values with other.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192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Imported cleaned dataset into Power BI.</a:t>
            </a:r>
          </a:p>
          <a:p>
            <a:r>
              <a:rPr dirty="0"/>
              <a:t>Created calculated columns (e.g., </a:t>
            </a:r>
            <a:r>
              <a:rPr dirty="0" err="1"/>
              <a:t>is_winner</a:t>
            </a:r>
            <a:r>
              <a:rPr dirty="0"/>
              <a:t>).</a:t>
            </a:r>
          </a:p>
          <a:p>
            <a:r>
              <a:rPr dirty="0"/>
              <a:t>Developed DAX measures for vote share, seat share, and totals.</a:t>
            </a:r>
          </a:p>
          <a:p>
            <a:r>
              <a:rPr dirty="0"/>
              <a:t>Created Year slicer for dynamic filtering.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0"/>
            <a:ext cx="7429499" cy="1478570"/>
          </a:xfrm>
        </p:spPr>
        <p:txBody>
          <a:bodyPr/>
          <a:lstStyle/>
          <a:p>
            <a:r>
              <a:rPr dirty="0"/>
              <a:t>Overall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960" y="1099111"/>
            <a:ext cx="3527937" cy="5645817"/>
          </a:xfrm>
        </p:spPr>
        <p:txBody>
          <a:bodyPr>
            <a:noAutofit/>
          </a:bodyPr>
          <a:lstStyle/>
          <a:p>
            <a:r>
              <a:rPr lang="en-US" sz="1800" dirty="0"/>
              <a:t>Overview of Indian General Elections (1951–2019).</a:t>
            </a:r>
            <a:br>
              <a:rPr lang="en-US" sz="1800" dirty="0"/>
            </a:br>
            <a:r>
              <a:rPr lang="en-US" sz="1800" dirty="0"/>
              <a:t>• Total votes card highlights cumulative votes cast across years.</a:t>
            </a:r>
            <a:br>
              <a:rPr lang="en-US" sz="1800" dirty="0"/>
            </a:br>
            <a:r>
              <a:rPr lang="en-US" sz="1800" dirty="0"/>
              <a:t>• Constituency chart shows majority of seats are General category.</a:t>
            </a:r>
            <a:br>
              <a:rPr lang="en-US" sz="1800" dirty="0"/>
            </a:br>
            <a:r>
              <a:rPr lang="en-US" sz="1800" dirty="0"/>
              <a:t>• Party-wise chart indicates INC and BJP receive the highest votes.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dirty="0" err="1"/>
              <a:t>Treemap</a:t>
            </a:r>
            <a:r>
              <a:rPr lang="en-US" sz="1800" dirty="0"/>
              <a:t> shows steady growth in registered voters over time.</a:t>
            </a:r>
            <a:br>
              <a:rPr lang="en-US" sz="1800" dirty="0"/>
            </a:br>
            <a:r>
              <a:rPr lang="en-US" sz="1800" dirty="0"/>
              <a:t>• Year and party slicers enable interactive filtering.</a:t>
            </a:r>
            <a:br>
              <a:rPr lang="en-US" sz="1800" dirty="0"/>
            </a:br>
            <a:r>
              <a:rPr lang="en-US" sz="1800" dirty="0"/>
              <a:t>• Insight: Displays long-term election trends, voter growth, and major party dominance.</a:t>
            </a:r>
            <a:endParaRPr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BD6A0-D9A4-EDE4-C70F-0B3DCA401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219" y="1211825"/>
            <a:ext cx="4965289" cy="53364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1" y="0"/>
            <a:ext cx="7429499" cy="1478570"/>
          </a:xfrm>
        </p:spPr>
        <p:txBody>
          <a:bodyPr/>
          <a:lstStyle/>
          <a:p>
            <a:r>
              <a:rPr dirty="0"/>
              <a:t>Historical Trends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7524"/>
            <a:ext cx="3583858" cy="51717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Shows historical trends of Indian General Elections (1951–2019).</a:t>
            </a:r>
            <a:br>
              <a:rPr lang="en-US" dirty="0"/>
            </a:br>
            <a:r>
              <a:rPr lang="en-US" dirty="0"/>
              <a:t>• KPI cards summarize seats won, total votes, turnout %, and candidates.</a:t>
            </a:r>
            <a:br>
              <a:rPr lang="en-US" dirty="0"/>
            </a:br>
            <a:r>
              <a:rPr lang="en-US" dirty="0"/>
              <a:t>• Candidate votes chart highlights top candidates by total votes.</a:t>
            </a:r>
            <a:br>
              <a:rPr lang="en-US" dirty="0"/>
            </a:br>
            <a:r>
              <a:rPr lang="en-US" dirty="0"/>
              <a:t>• Year slicer enables filtering and comparison across election years.</a:t>
            </a:r>
            <a:br>
              <a:rPr lang="en-US" dirty="0"/>
            </a:br>
            <a:r>
              <a:rPr lang="en-US" dirty="0"/>
              <a:t>• Party performance chart shows seats won by major parties (INC, BJP leading).</a:t>
            </a:r>
            <a:br>
              <a:rPr lang="en-US" dirty="0"/>
            </a:br>
            <a:r>
              <a:rPr lang="en-US" dirty="0"/>
              <a:t>• Stacked column chart shows party performance changes across years.</a:t>
            </a:r>
            <a:br>
              <a:rPr lang="en-US" dirty="0"/>
            </a:br>
            <a:r>
              <a:rPr lang="en-US" dirty="0"/>
              <a:t>• Insight: Reveals party dominance, candidate popularity, and shifts in political power over time.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752EB-C545-052F-2751-0283D3B21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58" y="1317524"/>
            <a:ext cx="5024283" cy="50095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692" y="126905"/>
            <a:ext cx="7429499" cy="1478570"/>
          </a:xfrm>
        </p:spPr>
        <p:txBody>
          <a:bodyPr/>
          <a:lstStyle/>
          <a:p>
            <a:r>
              <a:rPr dirty="0"/>
              <a:t>Real-Time Results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893" y="1290841"/>
            <a:ext cx="2949024" cy="525744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Shows year-specific election results in a detailed interactive view.</a:t>
            </a:r>
            <a:br>
              <a:rPr lang="en-US" dirty="0"/>
            </a:br>
            <a:r>
              <a:rPr lang="en-US" dirty="0"/>
              <a:t>• KPI cards summarize seats won, total votes, candidates, and turnout %.</a:t>
            </a:r>
            <a:br>
              <a:rPr lang="en-US" dirty="0"/>
            </a:br>
            <a:r>
              <a:rPr lang="en-US" dirty="0"/>
              <a:t>• Year slicer filters the dashboard for a selected election year.</a:t>
            </a:r>
            <a:br>
              <a:rPr lang="en-US" dirty="0"/>
            </a:br>
            <a:r>
              <a:rPr lang="en-US" dirty="0"/>
              <a:t>• Candidate votes chart highlights top candidates in that year.</a:t>
            </a:r>
            <a:br>
              <a:rPr lang="en-US" dirty="0"/>
            </a:br>
            <a:r>
              <a:rPr lang="en-US" dirty="0"/>
              <a:t>• Table shows constituency-level details (constituency, candidate, party, votes, winner).</a:t>
            </a:r>
            <a:br>
              <a:rPr lang="en-US" dirty="0"/>
            </a:br>
            <a:r>
              <a:rPr lang="en-US" dirty="0"/>
              <a:t>• Insight: Enables detailed analysis of election results and candidate performance for a specific year.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5EC02-2610-F1B5-1DC7-C8003E111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917" y="1163936"/>
            <a:ext cx="5090073" cy="55671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478570"/>
          </a:xfrm>
        </p:spPr>
        <p:txBody>
          <a:bodyPr/>
          <a:lstStyle/>
          <a:p>
            <a:pPr algn="ctr"/>
            <a:r>
              <a:rPr dirty="0"/>
              <a:t>Turnout by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1" y="1274685"/>
            <a:ext cx="2899862" cy="49196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KPI cards summarize total votes, turnout %, and gender-wise vote share.</a:t>
            </a:r>
            <a:br>
              <a:rPr lang="en-US" dirty="0"/>
            </a:br>
            <a:r>
              <a:rPr lang="en-US" dirty="0"/>
              <a:t>• Map shows voter turnout percentage by state.</a:t>
            </a:r>
            <a:br>
              <a:rPr lang="en-US" dirty="0"/>
            </a:br>
            <a:r>
              <a:rPr lang="en-US" dirty="0"/>
              <a:t>• Bar chart compares turnout across constituencies.</a:t>
            </a:r>
            <a:br>
              <a:rPr lang="en-US" dirty="0"/>
            </a:br>
            <a:r>
              <a:rPr lang="en-US" dirty="0"/>
              <a:t>• Pie chart shows vote share between male and female candidates.</a:t>
            </a:r>
            <a:br>
              <a:rPr lang="en-US" dirty="0"/>
            </a:br>
            <a:r>
              <a:rPr lang="en-US" dirty="0"/>
              <a:t>• Donut chart shows seats won by different parties.</a:t>
            </a:r>
            <a:br>
              <a:rPr lang="en-US" dirty="0"/>
            </a:br>
            <a:r>
              <a:rPr lang="en-US" dirty="0"/>
              <a:t>• Line chart shows voter turnout trend across years.</a:t>
            </a:r>
            <a:br>
              <a:rPr lang="en-US" dirty="0"/>
            </a:br>
            <a:r>
              <a:rPr lang="en-US" dirty="0"/>
              <a:t>• Insight: Highlights voter participation patterns, regional turnout differences, and gender representation in elections.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0F55A-B305-6F7E-4724-AFD172EFF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406" y="935931"/>
            <a:ext cx="5093110" cy="5801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04E5-5931-04ED-C141-2B9D98FC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478570"/>
          </a:xfrm>
        </p:spPr>
        <p:txBody>
          <a:bodyPr/>
          <a:lstStyle/>
          <a:p>
            <a:pPr algn="ctr"/>
            <a:r>
              <a:rPr lang="en-US" dirty="0"/>
              <a:t>Party and Candidate Performance Tracker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81897-5231-803A-CB27-743BE136A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29" y="1478570"/>
            <a:ext cx="3322650" cy="476491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KPI cards summarize total votes, seats won, candidates, and close contests.</a:t>
            </a:r>
            <a:br>
              <a:rPr lang="en-US" dirty="0"/>
            </a:br>
            <a:r>
              <a:rPr lang="en-US" dirty="0"/>
              <a:t>• Party chart shows seats won by each political party.</a:t>
            </a:r>
            <a:br>
              <a:rPr lang="en-US" dirty="0"/>
            </a:br>
            <a:r>
              <a:rPr lang="en-US" dirty="0"/>
              <a:t>• Margin chart categorizes wins into big, moderate, and close contests.</a:t>
            </a:r>
            <a:br>
              <a:rPr lang="en-US" dirty="0"/>
            </a:br>
            <a:r>
              <a:rPr lang="en-US" dirty="0"/>
              <a:t>• Line chart shows re-election trends of incumbents over time.</a:t>
            </a:r>
            <a:br>
              <a:rPr lang="en-US" dirty="0"/>
            </a:br>
            <a:r>
              <a:rPr lang="en-US" dirty="0"/>
              <a:t>• Filters allow analysis by party, year, state, and constituency.</a:t>
            </a:r>
            <a:br>
              <a:rPr lang="en-US" dirty="0"/>
            </a:br>
            <a:r>
              <a:rPr lang="en-US" dirty="0"/>
              <a:t>• Insight: Highlights election competitiveness, party dominance, and incumbency trends.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B92E6-0406-9C21-A302-A083FA38D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80" y="1288026"/>
            <a:ext cx="5093108" cy="530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9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11 </a:t>
            </a:r>
            <a:r>
              <a:rPr dirty="0"/>
              <a:t>Key DAX Measures Used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05E149D-A991-A5B8-AD18-87AA477204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6061" y="1781270"/>
            <a:ext cx="6999914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Total Votes = SUM(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total_votes</a:t>
            </a:r>
            <a:r>
              <a:rPr lang="en-US" sz="2000" dirty="0"/>
              <a:t>]) – Calculates the total number of votes cast in the dataset.</a:t>
            </a:r>
          </a:p>
          <a:p>
            <a:r>
              <a:rPr lang="en-US" sz="2000" dirty="0"/>
              <a:t>Seats Won = COUNT(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pc_name</a:t>
            </a:r>
            <a:r>
              <a:rPr lang="en-US" sz="2000" dirty="0"/>
              <a:t>]) – Counts the total number of seats won in the selected context.</a:t>
            </a:r>
          </a:p>
          <a:p>
            <a:r>
              <a:rPr lang="en-US" sz="2000" dirty="0"/>
              <a:t>Total Candidates = DISTINCTCOUNT(</a:t>
            </a:r>
            <a:r>
              <a:rPr lang="en-US" sz="2000" dirty="0" err="1"/>
              <a:t>election_data</a:t>
            </a:r>
            <a:r>
              <a:rPr lang="en-US" sz="2000" dirty="0"/>
              <a:t>[candidate]) – Calculates the number of unique candidates who contested the election.</a:t>
            </a:r>
          </a:p>
          <a:p>
            <a:r>
              <a:rPr lang="en-US" sz="2000" dirty="0"/>
              <a:t>Turnout % = DIVIDE(SUM(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total_votes</a:t>
            </a:r>
            <a:r>
              <a:rPr lang="en-US" sz="2000" dirty="0"/>
              <a:t>]), SUM(</a:t>
            </a:r>
            <a:r>
              <a:rPr lang="en-US" sz="2000" dirty="0" err="1"/>
              <a:t>election_data</a:t>
            </a:r>
            <a:r>
              <a:rPr lang="en-US" sz="2000" dirty="0"/>
              <a:t>[electors]),0) * 100 – Computes voter turnout percentage by dividing total votes by total registered electors.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CC4C-1FB5-FD4D-01A0-2BF8E7006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77744"/>
            <a:ext cx="7429499" cy="1478570"/>
          </a:xfrm>
        </p:spPr>
        <p:txBody>
          <a:bodyPr/>
          <a:lstStyle/>
          <a:p>
            <a:pPr algn="ctr"/>
            <a:r>
              <a:rPr lang="en-IN" dirty="0"/>
              <a:t>11 Key DAX Measures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B904-B084-2EBF-C4EB-555F73868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47" y="1266261"/>
            <a:ext cx="7429499" cy="4564268"/>
          </a:xfrm>
        </p:spPr>
        <p:txBody>
          <a:bodyPr>
            <a:noAutofit/>
          </a:bodyPr>
          <a:lstStyle/>
          <a:p>
            <a:r>
              <a:rPr lang="en-US" sz="2000" dirty="0"/>
              <a:t>Male Candidate Vote % = CALCULATE(DIVIDE(SUM(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total_votes</a:t>
            </a:r>
            <a:r>
              <a:rPr lang="en-US" sz="2000" dirty="0"/>
              <a:t>]), [Total Votes]), 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cand_sex</a:t>
            </a:r>
            <a:r>
              <a:rPr lang="en-US" sz="2000" dirty="0"/>
              <a:t>] = "M") * 100 – Shows the percentage of votes received by male candidates.</a:t>
            </a:r>
          </a:p>
          <a:p>
            <a:r>
              <a:rPr lang="en-US" sz="2000" dirty="0"/>
              <a:t>Female Candidate Vote % = CALCULATE(DIVIDE(SUM(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total_votes</a:t>
            </a:r>
            <a:r>
              <a:rPr lang="en-US" sz="2000" dirty="0"/>
              <a:t>]), [Total Votes]), </a:t>
            </a:r>
            <a:r>
              <a:rPr lang="en-US" sz="2000" dirty="0" err="1"/>
              <a:t>election_data</a:t>
            </a:r>
            <a:r>
              <a:rPr lang="en-US" sz="2000" dirty="0"/>
              <a:t>[</a:t>
            </a:r>
            <a:r>
              <a:rPr lang="en-US" sz="2000" dirty="0" err="1"/>
              <a:t>cand_sex</a:t>
            </a:r>
            <a:r>
              <a:rPr lang="en-US" sz="2000" dirty="0"/>
              <a:t>] = "F") * 100 – Shows the percentage of votes received by female candidates.</a:t>
            </a:r>
          </a:p>
          <a:p>
            <a:r>
              <a:rPr lang="en-US" sz="2000" dirty="0"/>
              <a:t>Seats Won by Party = COUNTROWS(FILTER(</a:t>
            </a:r>
            <a:r>
              <a:rPr lang="en-US" sz="2000" dirty="0" err="1"/>
              <a:t>election_data</a:t>
            </a:r>
            <a:r>
              <a:rPr lang="en-US" sz="2000" dirty="0"/>
              <a:t>, </a:t>
            </a:r>
            <a:r>
              <a:rPr lang="en-US" sz="2000" dirty="0" err="1"/>
              <a:t>election_data</a:t>
            </a:r>
            <a:r>
              <a:rPr lang="en-US" sz="2000" dirty="0"/>
              <a:t>[position] = 1)) – Counts the number of seats won by candidates who finished in first position.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5234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BB25-6E15-8AB4-50FC-989BD39E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244893"/>
            <a:ext cx="7429499" cy="1478570"/>
          </a:xfrm>
        </p:spPr>
        <p:txBody>
          <a:bodyPr/>
          <a:lstStyle/>
          <a:p>
            <a:pPr algn="ctr"/>
            <a:r>
              <a:rPr lang="en-IN" dirty="0"/>
              <a:t>11 Key DAX Measures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B1103-9886-B1FE-3C24-3208A3FC4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8" y="1600555"/>
            <a:ext cx="7429499" cy="4623263"/>
          </a:xfrm>
        </p:spPr>
        <p:txBody>
          <a:bodyPr>
            <a:noAutofit/>
          </a:bodyPr>
          <a:lstStyle/>
          <a:p>
            <a:r>
              <a:rPr lang="en-US" sz="1800" dirty="0"/>
              <a:t>Close Contests = CALCULATE(COUNTROWS(</a:t>
            </a:r>
            <a:r>
              <a:rPr lang="en-US" sz="1800" dirty="0" err="1"/>
              <a:t>election_data</a:t>
            </a:r>
            <a:r>
              <a:rPr lang="en-US" sz="1800" dirty="0"/>
              <a:t>), </a:t>
            </a:r>
            <a:r>
              <a:rPr lang="en-US" sz="1800" dirty="0" err="1"/>
              <a:t>election_data</a:t>
            </a:r>
            <a:r>
              <a:rPr lang="en-US" sz="1800" dirty="0"/>
              <a:t>[margin %] &lt; 5) – Counts elections where the victory margin is less than 5%.</a:t>
            </a:r>
          </a:p>
          <a:p>
            <a:r>
              <a:rPr lang="en-US" sz="1800" dirty="0"/>
              <a:t>Big Win = CALCULATE(COUNTROWS(</a:t>
            </a:r>
            <a:r>
              <a:rPr lang="en-US" sz="1800" dirty="0" err="1"/>
              <a:t>election_data</a:t>
            </a:r>
            <a:r>
              <a:rPr lang="en-US" sz="1800" dirty="0"/>
              <a:t>), </a:t>
            </a:r>
            <a:r>
              <a:rPr lang="en-US" sz="1800" dirty="0" err="1"/>
              <a:t>election_data</a:t>
            </a:r>
            <a:r>
              <a:rPr lang="en-US" sz="1800" dirty="0"/>
              <a:t>[margin %] &gt; 20) – Counts elections where the winning margin is greater than 20%.</a:t>
            </a:r>
          </a:p>
          <a:p>
            <a:r>
              <a:rPr lang="en-US" sz="1800" dirty="0"/>
              <a:t>Moderate Win = CALCULATE(COUNTROWS(</a:t>
            </a:r>
            <a:r>
              <a:rPr lang="en-US" sz="1800" dirty="0" err="1"/>
              <a:t>election_data</a:t>
            </a:r>
            <a:r>
              <a:rPr lang="en-US" sz="1800" dirty="0"/>
              <a:t>), </a:t>
            </a:r>
            <a:r>
              <a:rPr lang="en-US" sz="1800" dirty="0" err="1"/>
              <a:t>election_data</a:t>
            </a:r>
            <a:r>
              <a:rPr lang="en-US" sz="1800" dirty="0"/>
              <a:t>[margin %] &gt;= 5 &amp;&amp; </a:t>
            </a:r>
            <a:r>
              <a:rPr lang="en-US" sz="1800" dirty="0" err="1"/>
              <a:t>election_data</a:t>
            </a:r>
            <a:r>
              <a:rPr lang="en-US" sz="1800" dirty="0"/>
              <a:t>[margin %] &lt;= 20) – Counts elections where the winning margin is between 5% and 20%.</a:t>
            </a:r>
          </a:p>
          <a:p>
            <a:r>
              <a:rPr lang="en-US" sz="1800" dirty="0"/>
              <a:t>Incumbents </a:t>
            </a:r>
            <a:r>
              <a:rPr lang="en-US" sz="1800" dirty="0" err="1"/>
              <a:t>ReElected</a:t>
            </a:r>
            <a:r>
              <a:rPr lang="en-US" sz="1800" dirty="0"/>
              <a:t> = CALCULATE(COUNTROWS(</a:t>
            </a:r>
            <a:r>
              <a:rPr lang="en-US" sz="1800" dirty="0" err="1"/>
              <a:t>election_data</a:t>
            </a:r>
            <a:r>
              <a:rPr lang="en-US" sz="1800" dirty="0"/>
              <a:t>), </a:t>
            </a:r>
            <a:r>
              <a:rPr lang="en-US" sz="1800" dirty="0" err="1"/>
              <a:t>election_data</a:t>
            </a:r>
            <a:r>
              <a:rPr lang="en-US" sz="1800" dirty="0"/>
              <a:t>[incumbent] = "Yes") – Counts candidates who were re-elected while already holding office.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53817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ata Presentation Template PowerPoint and Google Slides - SlideChef">
            <a:extLst>
              <a:ext uri="{FF2B5EF4-FFF2-40B4-BE49-F238E27FC236}">
                <a16:creationId xmlns:a16="http://schemas.microsoft.com/office/drawing/2014/main" id="{60DEB468-32A7-1A63-F62C-FA1B8D76C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8043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783</TotalTime>
  <Words>1121</Words>
  <Application>Microsoft Office PowerPoint</Application>
  <PresentationFormat>On-screen Show (4:3)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</vt:lpstr>
      <vt:lpstr>ElectViz – Election Data Visualization for Media  Project</vt:lpstr>
      <vt:lpstr>Project Introduction</vt:lpstr>
      <vt:lpstr>Problem Statement</vt:lpstr>
      <vt:lpstr>PowerPoint Presentation</vt:lpstr>
      <vt:lpstr>Data Cleaning – Steps Performed</vt:lpstr>
      <vt:lpstr>Data Cleaning – Steps Performed</vt:lpstr>
      <vt:lpstr>Data Preparation in Power BI</vt:lpstr>
      <vt:lpstr>Overall Analysis Dashboard</vt:lpstr>
      <vt:lpstr>Historical Trends Dashboard</vt:lpstr>
      <vt:lpstr>Real-Time Results Dashboard</vt:lpstr>
      <vt:lpstr>Turnout by Demographics</vt:lpstr>
      <vt:lpstr>Party and Candidate Performance Tracker</vt:lpstr>
      <vt:lpstr>11 Key DAX Measures Used</vt:lpstr>
      <vt:lpstr>11 Key DAX Measures Used</vt:lpstr>
      <vt:lpstr>11 Key DAX Measures Used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Drishti Rathod</dc:creator>
  <cp:keywords/>
  <dc:description>generated using python-pptx</dc:description>
  <cp:lastModifiedBy>Drishti Rathod</cp:lastModifiedBy>
  <cp:revision>9</cp:revision>
  <dcterms:created xsi:type="dcterms:W3CDTF">2013-01-27T09:14:16Z</dcterms:created>
  <dcterms:modified xsi:type="dcterms:W3CDTF">2026-03-16T12:26:43Z</dcterms:modified>
  <cp:category/>
</cp:coreProperties>
</file>